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9" r:id="rId6"/>
    <p:sldId id="260" r:id="rId7"/>
    <p:sldId id="262" r:id="rId8"/>
    <p:sldId id="263" r:id="rId9"/>
    <p:sldId id="266" r:id="rId10"/>
    <p:sldId id="267" r:id="rId11"/>
    <p:sldId id="268" r:id="rId12"/>
  </p:sldIdLst>
  <p:sldSz cx="12192000" cy="6858000"/>
  <p:notesSz cx="12192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g/ZSpQfJIE0zgV/D9/u7Mrf1bGq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6905625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t>‹#›</a:t>
            </a:fld>
            <a:endParaRPr sz="12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>
          <a:extLst>
            <a:ext uri="{FF2B5EF4-FFF2-40B4-BE49-F238E27FC236}">
              <a16:creationId xmlns:a16="http://schemas.microsoft.com/office/drawing/2014/main" id="{E5F4936D-4CBD-2B1C-386A-3410BB0AC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>
            <a:extLst>
              <a:ext uri="{FF2B5EF4-FFF2-40B4-BE49-F238E27FC236}">
                <a16:creationId xmlns:a16="http://schemas.microsoft.com/office/drawing/2014/main" id="{564DC54F-CA2E-8414-189A-C8502026A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:notes">
            <a:extLst>
              <a:ext uri="{FF2B5EF4-FFF2-40B4-BE49-F238E27FC236}">
                <a16:creationId xmlns:a16="http://schemas.microsoft.com/office/drawing/2014/main" id="{0EC6C443-CA49-8E3F-A7BA-7E72A4B105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15007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7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body" idx="1"/>
          </p:nvPr>
        </p:nvSpPr>
        <p:spPr>
          <a:xfrm>
            <a:off x="2237894" y="1561353"/>
            <a:ext cx="8115300" cy="2454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8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IN"/>
              <a:t>CSA4101</a:t>
            </a:r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11329491" y="6466777"/>
            <a:ext cx="218211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9535" lvl="0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89535" lvl="1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9535" lvl="2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89535" lvl="3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89535" lvl="4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89535" lvl="5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89535" lvl="6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89535" lvl="7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89535" lvl="8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953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IN"/>
              <a:t>CSA4101</a:t>
            </a:r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sldNum" idx="12"/>
          </p:nvPr>
        </p:nvSpPr>
        <p:spPr>
          <a:xfrm>
            <a:off x="11329491" y="6466777"/>
            <a:ext cx="218211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9535" lvl="0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89535" lvl="1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9535" lvl="2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89535" lvl="3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89535" lvl="4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89535" lvl="5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89535" lvl="6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89535" lvl="7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89535" lvl="8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953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IN"/>
              <a:t>CSA4101</a:t>
            </a:r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sldNum" idx="12"/>
          </p:nvPr>
        </p:nvSpPr>
        <p:spPr>
          <a:xfrm>
            <a:off x="11329491" y="6466777"/>
            <a:ext cx="218211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9535" lvl="0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89535" lvl="1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9535" lvl="2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89535" lvl="3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89535" lvl="4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89535" lvl="5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89535" lvl="6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89535" lvl="7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89535" lvl="8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953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subTitle" idx="1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8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IN"/>
              <a:t>CSA4101</a:t>
            </a:r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11329491" y="6466777"/>
            <a:ext cx="218211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9535" lvl="0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89535" lvl="1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9535" lvl="2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89535" lvl="3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89535" lvl="4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89535" lvl="5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89535" lvl="6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89535" lvl="7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89535" lvl="8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953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IN"/>
              <a:t>CSA4101</a:t>
            </a:r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11329491" y="6466777"/>
            <a:ext cx="218211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9535" lvl="0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89535" lvl="1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9535" lvl="2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89535" lvl="3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89535" lvl="4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89535" lvl="5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89535" lvl="6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89535" lvl="7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89535" lvl="8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953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2237894" y="1561353"/>
            <a:ext cx="8115300" cy="2454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r>
              <a:rPr lang="en-IN"/>
              <a:t>CSA4101</a:t>
            </a:r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dt" idx="10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11329491" y="6466777"/>
            <a:ext cx="218211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9535" lvl="0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89535" lvl="1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9535" lvl="2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89535" lvl="3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89535" lvl="4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89535" lvl="5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89535" lvl="6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89535" lvl="7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89535" lvl="8" indent="0">
              <a:lnSpc>
                <a:spcPct val="103333"/>
              </a:lnSpc>
              <a:spcBef>
                <a:spcPts val="0"/>
              </a:spcBef>
              <a:buNone/>
              <a:defRPr sz="1200" b="0" i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9535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jp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2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2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jp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/>
          <p:nvPr/>
        </p:nvSpPr>
        <p:spPr>
          <a:xfrm>
            <a:off x="8608627" y="4938134"/>
            <a:ext cx="3040822" cy="1315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8725" rIns="0" bIns="0" anchor="t" anchorCtr="0">
            <a:spAutoFit/>
          </a:bodyPr>
          <a:lstStyle/>
          <a:p>
            <a:pPr marL="17145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C0C0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Presented by:</a:t>
            </a: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 lvl="0" indent="0" algn="ctr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C0C0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HARI PRASAD L S</a:t>
            </a:r>
            <a:endParaRPr dirty="0"/>
          </a:p>
          <a:p>
            <a:pPr marL="12700" lvl="0" indent="0" algn="ctr" rtl="0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0C0C0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(192413023)</a:t>
            </a:r>
          </a:p>
        </p:txBody>
      </p:sp>
      <p:pic>
        <p:nvPicPr>
          <p:cNvPr id="48" name="Google Shape;4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04800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353194" y="238135"/>
            <a:ext cx="1520113" cy="134288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"/>
          <p:cNvSpPr txBox="1">
            <a:spLocks noGrp="1"/>
          </p:cNvSpPr>
          <p:nvPr>
            <p:ph type="body" idx="1"/>
          </p:nvPr>
        </p:nvSpPr>
        <p:spPr>
          <a:xfrm>
            <a:off x="2237894" y="1561353"/>
            <a:ext cx="8115300" cy="3046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975" rIns="0" bIns="0" anchor="t" anchorCtr="0">
            <a:spAutoFit/>
          </a:bodyPr>
          <a:lstStyle/>
          <a:p>
            <a:pPr marL="0" marR="813435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Capstone project presentation</a:t>
            </a:r>
            <a:endParaRPr dirty="0"/>
          </a:p>
          <a:p>
            <a:pPr marL="0" marR="813435" lvl="0" indent="0" algn="ctr" rtl="0">
              <a:lnSpc>
                <a:spcPct val="100000"/>
              </a:lnSpc>
              <a:spcBef>
                <a:spcPts val="1055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/>
            <a:r>
              <a:rPr lang="en-US" sz="3200" b="1" dirty="0"/>
              <a:t>IoT-Integrated Control System for Actuators and Lighting using ESP32 Microcontroller</a:t>
            </a:r>
          </a:p>
          <a:p>
            <a:pPr marL="0" lvl="0" indent="0" algn="ctr"/>
            <a:endParaRPr sz="32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>
              <a:spcBef>
                <a:spcPts val="35"/>
              </a:spcBef>
            </a:pPr>
            <a:r>
              <a:rPr lang="en-IN" b="1" dirty="0"/>
              <a:t>CSA4101</a:t>
            </a: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b="1" dirty="0"/>
              <a:t>Internet of Things for Beginners</a:t>
            </a:r>
            <a:endParaRPr sz="24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" name="Google Shape;51;p1"/>
          <p:cNvSpPr txBox="1"/>
          <p:nvPr/>
        </p:nvSpPr>
        <p:spPr>
          <a:xfrm>
            <a:off x="1060520" y="4919055"/>
            <a:ext cx="2522855" cy="15209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latin typeface="Times New Roman"/>
                <a:ea typeface="Times New Roman"/>
                <a:cs typeface="Times New Roman"/>
                <a:sym typeface="Times New Roman"/>
              </a:rPr>
              <a:t>Guided By :</a:t>
            </a:r>
            <a:endParaRPr sz="2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 lvl="0" indent="0" algn="ctr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Dr. B. Prabakaran &amp;</a:t>
            </a:r>
          </a:p>
          <a:p>
            <a:pPr marL="12700" lvl="0" indent="0" algn="ctr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2400" dirty="0">
                <a:latin typeface="Times New Roman"/>
                <a:ea typeface="Times New Roman"/>
                <a:cs typeface="Times New Roman"/>
                <a:sym typeface="Times New Roman"/>
              </a:rPr>
              <a:t>Dr. Geetha R</a:t>
            </a: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" name="Google Shape;53;p1"/>
          <p:cNvSpPr txBox="1"/>
          <p:nvPr/>
        </p:nvSpPr>
        <p:spPr>
          <a:xfrm>
            <a:off x="2514661" y="600497"/>
            <a:ext cx="6839987" cy="75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123315" marR="5080" lvl="0" indent="-111125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Times New Roman"/>
                <a:ea typeface="Times New Roman"/>
                <a:cs typeface="Times New Roman"/>
                <a:sym typeface="Times New Roman"/>
              </a:rPr>
              <a:t>SAVEETHA INSTITUTE OF MEDICAL AND TECHNICAL SCIENCES</a:t>
            </a: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4" name="Google Shape;54;p1" descr="A family standing next to a solar water pump&#10;&#10;AI-generated content may be incorrect."/>
          <p:cNvPicPr preferRelativeResize="0"/>
          <p:nvPr/>
        </p:nvPicPr>
        <p:blipFill rotWithShape="1">
          <a:blip r:embed="rId5">
            <a:alphaModFix/>
          </a:blip>
          <a:srcRect t="20000" b="23333"/>
          <a:stretch/>
        </p:blipFill>
        <p:spPr>
          <a:xfrm>
            <a:off x="2237894" y="-5542125"/>
            <a:ext cx="7161587" cy="31958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06E311B-D105-59DA-DC63-057DCEE25E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rPr lang="en-IN"/>
              <a:t>CSA4101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1667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8150" rIns="0" bIns="0" anchor="t" anchorCtr="0">
            <a:spAutoFit/>
          </a:bodyPr>
          <a:lstStyle/>
          <a:p>
            <a:pPr algn="ctr"/>
            <a:r>
              <a:rPr lang="en-IN" dirty="0"/>
              <a:t>INTRODUCTION</a:t>
            </a:r>
            <a:br>
              <a:rPr lang="en-IN" dirty="0"/>
            </a:br>
            <a:br>
              <a:rPr lang="en-IN" b="0" dirty="0"/>
            </a:br>
            <a:endParaRPr dirty="0"/>
          </a:p>
        </p:txBody>
      </p:sp>
      <p:pic>
        <p:nvPicPr>
          <p:cNvPr id="60" name="Google Shape;6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7352" y="191626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14231" y="191626"/>
            <a:ext cx="1520113" cy="1342883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CSA4101</a:t>
            </a:r>
            <a:endParaRPr dirty="0"/>
          </a:p>
        </p:txBody>
      </p:sp>
      <p:sp>
        <p:nvSpPr>
          <p:cNvPr id="65" name="Google Shape;65;p2" descr="Image of "/>
          <p:cNvSpPr/>
          <p:nvPr/>
        </p:nvSpPr>
        <p:spPr>
          <a:xfrm>
            <a:off x="5943600" y="32766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pic>
        <p:nvPicPr>
          <p:cNvPr id="67" name="Google Shape;67;p2" descr="Solar energy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106326" y="2477852"/>
            <a:ext cx="782153" cy="78215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2" descr="Pump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487400" y="2517159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2" descr="Gas pump 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1894865" y="5095070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2" descr="Rural area 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3515003" y="4944479"/>
            <a:ext cx="677758" cy="677758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2"/>
          <p:cNvSpPr/>
          <p:nvPr/>
        </p:nvSpPr>
        <p:spPr>
          <a:xfrm>
            <a:off x="-8216854" y="2389549"/>
            <a:ext cx="5129582" cy="103496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25400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highlight>
                <a:srgbClr val="C0C0C0"/>
              </a:highlight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-8170555" y="4944479"/>
            <a:ext cx="5129582" cy="103496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25400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highlight>
                <a:srgbClr val="C0C0C0"/>
              </a:highlight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16419117" y="2167994"/>
            <a:ext cx="5129582" cy="103496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25400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highlight>
                <a:srgbClr val="C0C0C0"/>
              </a:highlight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16461095" y="4574739"/>
            <a:ext cx="5129582" cy="1034965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25400" cap="flat" cmpd="sng">
            <a:solidFill>
              <a:srgbClr val="0C0C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highlight>
                <a:srgbClr val="C0C0C0"/>
              </a:highlight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5550834" y="7492487"/>
            <a:ext cx="1165305" cy="1054328"/>
          </a:xfrm>
          <a:prstGeom prst="ellipse">
            <a:avLst/>
          </a:prstGeom>
          <a:solidFill>
            <a:srgbClr val="DDD9C3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5665747" y="-2698277"/>
            <a:ext cx="1165305" cy="1054328"/>
          </a:xfrm>
          <a:prstGeom prst="ellipse">
            <a:avLst/>
          </a:prstGeom>
          <a:solidFill>
            <a:srgbClr val="DDD9C3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5613348" y="8781015"/>
            <a:ext cx="1165305" cy="1054328"/>
          </a:xfrm>
          <a:prstGeom prst="ellipse">
            <a:avLst/>
          </a:prstGeom>
          <a:solidFill>
            <a:srgbClr val="DDD9C3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5665747" y="-1541102"/>
            <a:ext cx="1165305" cy="1054328"/>
          </a:xfrm>
          <a:prstGeom prst="ellipse">
            <a:avLst/>
          </a:prstGeom>
          <a:solidFill>
            <a:srgbClr val="DDD9C3"/>
          </a:solidFill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CA99C-AA33-EA72-DF04-D24F75ABB34A}"/>
              </a:ext>
            </a:extLst>
          </p:cNvPr>
          <p:cNvSpPr txBox="1"/>
          <p:nvPr/>
        </p:nvSpPr>
        <p:spPr>
          <a:xfrm>
            <a:off x="357352" y="2353654"/>
            <a:ext cx="1185407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30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Internet of Things (IoT) enables smart control of devices over the internet.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0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Home automation is one of the most important applications of IoT.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0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a smart system to control a light and a motor using: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30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 interface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30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Voice commands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00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is implemented using an ESP32 microcontroller.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E52327-2D5F-82AD-E9DA-D1F5C7B1D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31" y="571427"/>
            <a:ext cx="10849337" cy="6094946"/>
          </a:xfrm>
          <a:prstGeom prst="rect">
            <a:avLst/>
          </a:prstGeom>
        </p:spPr>
      </p:pic>
      <p:pic>
        <p:nvPicPr>
          <p:cNvPr id="6" name="Google Shape;60;p2">
            <a:extLst>
              <a:ext uri="{FF2B5EF4-FFF2-40B4-BE49-F238E27FC236}">
                <a16:creationId xmlns:a16="http://schemas.microsoft.com/office/drawing/2014/main" id="{38E08A34-F73F-A127-DD12-AEDCC4EE058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57352" y="191627"/>
            <a:ext cx="863538" cy="1000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1;p2">
            <a:extLst>
              <a:ext uri="{FF2B5EF4-FFF2-40B4-BE49-F238E27FC236}">
                <a16:creationId xmlns:a16="http://schemas.microsoft.com/office/drawing/2014/main" id="{3DBDE648-40E1-8C6B-E04B-9462CAF94FD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514232" y="191627"/>
            <a:ext cx="1156424" cy="1000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B8BB56-D4EC-063C-96E7-676805475C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792400" y="-3737824"/>
            <a:ext cx="3358505" cy="65015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5379316-6C9A-714C-128E-60D64A95B955}"/>
              </a:ext>
            </a:extLst>
          </p:cNvPr>
          <p:cNvSpPr txBox="1"/>
          <p:nvPr/>
        </p:nvSpPr>
        <p:spPr>
          <a:xfrm>
            <a:off x="3828192" y="498692"/>
            <a:ext cx="42082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1905C7-7445-5680-D528-74AFECBE9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871" y="521380"/>
            <a:ext cx="10337815" cy="6336620"/>
          </a:xfrm>
          <a:prstGeom prst="rect">
            <a:avLst/>
          </a:prstGeom>
        </p:spPr>
      </p:pic>
      <p:pic>
        <p:nvPicPr>
          <p:cNvPr id="4" name="Google Shape;60;p2">
            <a:extLst>
              <a:ext uri="{FF2B5EF4-FFF2-40B4-BE49-F238E27FC236}">
                <a16:creationId xmlns:a16="http://schemas.microsoft.com/office/drawing/2014/main" id="{0F51378B-1958-8320-8504-8500F9070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9605" y="133754"/>
            <a:ext cx="823266" cy="1023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1;p2">
            <a:extLst>
              <a:ext uri="{FF2B5EF4-FFF2-40B4-BE49-F238E27FC236}">
                <a16:creationId xmlns:a16="http://schemas.microsoft.com/office/drawing/2014/main" id="{DE696BFD-955D-DA9D-93E1-7B8AD6690B5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75219" y="133754"/>
            <a:ext cx="1102493" cy="1023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1DBE7B-29AE-1194-71F1-37D6935F01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845937" y="-3459105"/>
            <a:ext cx="3358505" cy="65015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70A541A-A9EE-6AC2-DD41-D6C3E229D9CD}"/>
              </a:ext>
            </a:extLst>
          </p:cNvPr>
          <p:cNvSpPr txBox="1"/>
          <p:nvPr/>
        </p:nvSpPr>
        <p:spPr>
          <a:xfrm>
            <a:off x="2236009" y="572695"/>
            <a:ext cx="73180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224F1902-F658-C7B4-7E79-CFC40CE1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0613EA-9FBE-D835-88B7-DBCF920C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8" y="1458410"/>
            <a:ext cx="12128162" cy="47224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DF8DC0-CA54-0BA2-5EF9-27478A5E39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502015" y="-3307632"/>
            <a:ext cx="3358505" cy="8362534"/>
          </a:xfrm>
          <a:prstGeom prst="rect">
            <a:avLst/>
          </a:prstGeom>
        </p:spPr>
      </p:pic>
      <p:pic>
        <p:nvPicPr>
          <p:cNvPr id="6" name="Google Shape;60;p2">
            <a:extLst>
              <a:ext uri="{FF2B5EF4-FFF2-40B4-BE49-F238E27FC236}">
                <a16:creationId xmlns:a16="http://schemas.microsoft.com/office/drawing/2014/main" id="{00815453-49BE-9CA6-C139-654815E186C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9605" y="133754"/>
            <a:ext cx="823266" cy="1023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1;p2">
            <a:extLst>
              <a:ext uri="{FF2B5EF4-FFF2-40B4-BE49-F238E27FC236}">
                <a16:creationId xmlns:a16="http://schemas.microsoft.com/office/drawing/2014/main" id="{0C5310BB-41E9-6284-FEB9-11163F31A67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975219" y="133754"/>
            <a:ext cx="1102493" cy="102371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8BF9FD-95DC-4BDD-1DA3-47AEF877D1C9}"/>
              </a:ext>
            </a:extLst>
          </p:cNvPr>
          <p:cNvSpPr txBox="1"/>
          <p:nvPr/>
        </p:nvSpPr>
        <p:spPr>
          <a:xfrm>
            <a:off x="2066692" y="896535"/>
            <a:ext cx="8058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STACK AND TECHNOLOGIES</a:t>
            </a:r>
          </a:p>
        </p:txBody>
      </p:sp>
    </p:spTree>
    <p:extLst>
      <p:ext uri="{BB962C8B-B14F-4D97-AF65-F5344CB8AC3E}">
        <p14:creationId xmlns:p14="http://schemas.microsoft.com/office/powerpoint/2010/main" val="2970256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B34652B-6618-99C0-B7CE-29D6BBEA8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839" y="1251878"/>
            <a:ext cx="7952802" cy="5606122"/>
          </a:xfrm>
          <a:prstGeom prst="rect">
            <a:avLst/>
          </a:prstGeom>
        </p:spPr>
      </p:pic>
      <p:pic>
        <p:nvPicPr>
          <p:cNvPr id="6" name="Google Shape;60;p2">
            <a:extLst>
              <a:ext uri="{FF2B5EF4-FFF2-40B4-BE49-F238E27FC236}">
                <a16:creationId xmlns:a16="http://schemas.microsoft.com/office/drawing/2014/main" id="{4E56891B-F7A0-78D0-6870-B448250FDB4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39605" y="133754"/>
            <a:ext cx="823266" cy="1023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61;p2">
            <a:extLst>
              <a:ext uri="{FF2B5EF4-FFF2-40B4-BE49-F238E27FC236}">
                <a16:creationId xmlns:a16="http://schemas.microsoft.com/office/drawing/2014/main" id="{0305E53A-B522-FC31-B020-317A6BE8E68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75219" y="133754"/>
            <a:ext cx="1102493" cy="102371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1509F43-E640-9C38-BF94-49874728CC60}"/>
              </a:ext>
            </a:extLst>
          </p:cNvPr>
          <p:cNvSpPr txBox="1"/>
          <p:nvPr/>
        </p:nvSpPr>
        <p:spPr>
          <a:xfrm>
            <a:off x="3234813" y="353224"/>
            <a:ext cx="61109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WORKING PRINCIPAL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6625" rIns="0" bIns="0" anchor="t" anchorCtr="0">
            <a:spAutoFit/>
          </a:bodyPr>
          <a:lstStyle/>
          <a:p>
            <a:pPr marL="23114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SYSTEM DESIGN/ BLOCK DIAGRAM</a:t>
            </a:r>
            <a:endParaRPr/>
          </a:p>
        </p:txBody>
      </p:sp>
      <p:pic>
        <p:nvPicPr>
          <p:cNvPr id="179" name="Google Shape;17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7352" y="191626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14231" y="191626"/>
            <a:ext cx="1520113" cy="1342883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7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CSA4101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963D7E-FB31-4C05-C681-74082C5FEE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7177" y="1281103"/>
            <a:ext cx="8000701" cy="50079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73825" rIns="0" bIns="0" anchor="t" anchorCtr="0">
            <a:spAutoFit/>
          </a:bodyPr>
          <a:lstStyle/>
          <a:p>
            <a:pPr marL="175387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CIRCUIT DIAGRAM</a:t>
            </a:r>
            <a:endParaRPr/>
          </a:p>
        </p:txBody>
      </p:sp>
      <p:pic>
        <p:nvPicPr>
          <p:cNvPr id="191" name="Google Shape;191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7352" y="191626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14231" y="191626"/>
            <a:ext cx="1520113" cy="134288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CSA4101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5E3B0F-D194-F44A-5162-7FAC7D1C61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3557" y="1361843"/>
            <a:ext cx="8070887" cy="48464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8150" rIns="0" bIns="0" anchor="t" anchorCtr="0">
            <a:spAutoFit/>
          </a:bodyPr>
          <a:lstStyle/>
          <a:p>
            <a:pPr marL="2749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 &amp; FUTURE SCOPE</a:t>
            </a:r>
            <a:endParaRPr dirty="0"/>
          </a:p>
        </p:txBody>
      </p:sp>
      <p:pic>
        <p:nvPicPr>
          <p:cNvPr id="253" name="Google Shape;253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7352" y="191626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14231" y="191626"/>
            <a:ext cx="1520113" cy="1342883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1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CSA4101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1D197D-CAC0-2EB7-A773-0E77D6B91B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7986" y="1279820"/>
            <a:ext cx="6160974" cy="5062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41C2C7-2F23-7350-D6A1-AD516EFB4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3578" y="3139669"/>
            <a:ext cx="1754735" cy="13428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D877017-1DB4-75F1-3636-9E357F8E51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16911" y="4729665"/>
            <a:ext cx="1681402" cy="1413526"/>
          </a:xfrm>
          <a:prstGeom prst="rect">
            <a:avLst/>
          </a:prstGeom>
        </p:spPr>
      </p:pic>
      <p:pic>
        <p:nvPicPr>
          <p:cNvPr id="2052" name="Picture 4" descr="Talent management ">
            <a:extLst>
              <a:ext uri="{FF2B5EF4-FFF2-40B4-BE49-F238E27FC236}">
                <a16:creationId xmlns:a16="http://schemas.microsoft.com/office/drawing/2014/main" id="{11BDEFB6-DAB7-C629-0598-1A954E7C9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345" y="1534509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2"/>
          <p:cNvSpPr txBox="1">
            <a:spLocks noGrp="1"/>
          </p:cNvSpPr>
          <p:nvPr>
            <p:ph type="title"/>
          </p:nvPr>
        </p:nvSpPr>
        <p:spPr>
          <a:xfrm>
            <a:off x="2398857" y="397890"/>
            <a:ext cx="7394285" cy="705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8150" rIns="0" bIns="0" anchor="t" anchorCtr="0">
            <a:spAutoFit/>
          </a:bodyPr>
          <a:lstStyle/>
          <a:p>
            <a:pPr marL="233108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REFERENCES</a:t>
            </a:r>
            <a:endParaRPr/>
          </a:p>
        </p:txBody>
      </p:sp>
      <p:sp>
        <p:nvSpPr>
          <p:cNvPr id="267" name="Google Shape;267;p12"/>
          <p:cNvSpPr txBox="1"/>
          <p:nvPr/>
        </p:nvSpPr>
        <p:spPr>
          <a:xfrm>
            <a:off x="1253959" y="1482387"/>
            <a:ext cx="122555" cy="276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latin typeface="Lucida Sans"/>
                <a:ea typeface="Lucida Sans"/>
                <a:cs typeface="Lucida Sans"/>
                <a:sym typeface="Lucida Sans"/>
              </a:rPr>
              <a:t>□</a:t>
            </a:r>
            <a:endParaRPr sz="1600">
              <a:latin typeface="Lucida Sans"/>
              <a:ea typeface="Lucida Sans"/>
              <a:cs typeface="Lucida Sans"/>
              <a:sym typeface="Lucida Sans"/>
            </a:endParaRPr>
          </a:p>
        </p:txBody>
      </p:sp>
      <p:pic>
        <p:nvPicPr>
          <p:cNvPr id="268" name="Google Shape;268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88" y="404244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00297" y="408442"/>
            <a:ext cx="1520113" cy="1342883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2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CSA4101</a:t>
            </a:r>
            <a:endParaRPr/>
          </a:p>
        </p:txBody>
      </p:sp>
      <p:sp>
        <p:nvSpPr>
          <p:cNvPr id="272" name="Google Shape;272;p12"/>
          <p:cNvSpPr/>
          <p:nvPr/>
        </p:nvSpPr>
        <p:spPr>
          <a:xfrm>
            <a:off x="503482" y="2006272"/>
            <a:ext cx="11184890" cy="4247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Ammar, A., Hamraoui, K., Belguellaoui, M., &amp; Kheldoun, A. (2022).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enhancement of photovoltaic water pumping system based on BLDC motor under partial shading condition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In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Proceedings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(Vol. 14, Issue 1, p. 22). MDPI.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Pamuji, F. A., Faurahmansyah, M. A., Suryoatmojo, H., Arumsari, N., &amp; Syafi’I, B. A. (2023).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Design and implementation of MPPT for solar powered BLDC water pumps with water flow rate parameters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In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Proceedings of the 2023 International Seminar on Intelligent Technology and Its Applications (ISITIA)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(pp. 251–256). IEEE.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Boztas, G., Aydogmus, O., &amp; Yilmaz, M. (2024).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Optimized design of SynRM drive systems for high-efficiency solar water pumps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Heliyon, 10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(20), e39478.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Kumar, R. K., Dheepika, R., Nishanth, G., Shafeer Ahamed, S., &amp; Selvakumar. (2024).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Solar powered water pump with Zeta converter and BLDC motor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</a:t>
            </a:r>
            <a:r>
              <a:rPr lang="en-US" sz="1800" b="0" i="1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Educational Administration: Theory and Practice, 30</a:t>
            </a:r>
            <a:r>
              <a:rPr lang="en-US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(6), 1919–1927. 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AutoNum type="arabicPeriod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Sen, A., Singh, B., Mahtani, K., Moradzadeh, A., &amp; Muyeen, S. M. (2025). Optimized design of a permanent magnet brushless DC motor for solar water-pumping applications. </a:t>
            </a:r>
            <a:r>
              <a:rPr lang="en-US" sz="1800" i="1">
                <a:latin typeface="Times New Roman"/>
                <a:ea typeface="Times New Roman"/>
                <a:cs typeface="Times New Roman"/>
                <a:sym typeface="Times New Roman"/>
              </a:rPr>
              <a:t>Renewable and Sustainable Energy Reviews</a:t>
            </a: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. Advance online publication.</a:t>
            </a:r>
            <a:endParaRPr/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alibri"/>
              <a:buAutoNum type="arabicPeriod"/>
            </a:pP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Wankhade, S. V., &amp; Bodkhe, N. A. (2025). </a:t>
            </a:r>
            <a:r>
              <a:rPr lang="en-US" sz="1800" i="1">
                <a:latin typeface="Times New Roman"/>
                <a:ea typeface="Times New Roman"/>
                <a:cs typeface="Times New Roman"/>
                <a:sym typeface="Times New Roman"/>
              </a:rPr>
              <a:t>Solar fed brushless DC motor for water pump applications using MATLAB – A review</a:t>
            </a:r>
            <a:r>
              <a:rPr lang="en-US" sz="1800">
                <a:latin typeface="Times New Roman"/>
                <a:ea typeface="Times New Roman"/>
                <a:cs typeface="Times New Roman"/>
                <a:sym typeface="Times New Roman"/>
              </a:rPr>
              <a:t>. </a:t>
            </a:r>
            <a:r>
              <a:rPr lang="en-US" sz="1800" i="1">
                <a:latin typeface="Times New Roman"/>
                <a:ea typeface="Times New Roman"/>
                <a:cs typeface="Times New Roman"/>
                <a:sym typeface="Times New Roman"/>
              </a:rPr>
              <a:t>International Journal of Multidisciplinary Research in Science, Engineering and Technology.</a:t>
            </a:r>
            <a:endParaRPr sz="18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62286" y="393171"/>
            <a:ext cx="1520113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" y="501648"/>
            <a:ext cx="1135116" cy="1342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926102" y="2057874"/>
            <a:ext cx="7858920" cy="3731558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3"/>
          <p:cNvSpPr txBox="1">
            <a:spLocks noGrp="1"/>
          </p:cNvSpPr>
          <p:nvPr>
            <p:ph type="ftr" idx="11"/>
          </p:nvPr>
        </p:nvSpPr>
        <p:spPr>
          <a:xfrm>
            <a:off x="5811130" y="6466777"/>
            <a:ext cx="569595" cy="1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0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CSA4101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439</Words>
  <Application>Microsoft Office PowerPoint</Application>
  <PresentationFormat>Widescreen</PresentationFormat>
  <Paragraphs>42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Lucida Sans</vt:lpstr>
      <vt:lpstr>Times New Roman</vt:lpstr>
      <vt:lpstr>Office Theme</vt:lpstr>
      <vt:lpstr>PowerPoint Presentation</vt:lpstr>
      <vt:lpstr>INTRODUCTION  </vt:lpstr>
      <vt:lpstr>PowerPoint Presentation</vt:lpstr>
      <vt:lpstr>PowerPoint Presentation</vt:lpstr>
      <vt:lpstr>PowerPoint Presentation</vt:lpstr>
      <vt:lpstr>PowerPoint Presentation</vt:lpstr>
      <vt:lpstr>SYSTEM DESIGN/ BLOCK DIAGRAM</vt:lpstr>
      <vt:lpstr>CIRCUIT DIAGRAM</vt:lpstr>
      <vt:lpstr>CONCLUSION &amp; FUTURE SCOPE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HARI PRASAD L S</dc:creator>
  <cp:lastModifiedBy>HARI PRASAD L S</cp:lastModifiedBy>
  <cp:revision>5</cp:revision>
  <dcterms:created xsi:type="dcterms:W3CDTF">2025-11-16T12:01:39Z</dcterms:created>
  <dcterms:modified xsi:type="dcterms:W3CDTF">2026-01-22T04:08:07Z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2025-11-16T00:00:00Z</vt:filetime>
  </property>
  <property fmtid="{D5CDD505-2E9C-101B-9397-08002B2CF9AE}" pid="3" name="Creator">
    <vt:lpwstr>Google</vt:lpwstr>
  </property>
  <property fmtid="{D5CDD505-2E9C-101B-9397-08002B2CF9AE}" pid="4" name="LastSaved">
    <vt:filetime>2025-11-16T00:00:00Z</vt:filetime>
  </property>
</Properties>
</file>